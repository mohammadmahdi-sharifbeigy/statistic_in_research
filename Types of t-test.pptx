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282" r:id="rId7"/>
    <p:sldId id="315" r:id="rId8"/>
    <p:sldId id="317" r:id="rId9"/>
    <p:sldId id="318" r:id="rId10"/>
    <p:sldId id="319" r:id="rId11"/>
    <p:sldId id="321" r:id="rId12"/>
    <p:sldId id="322" r:id="rId13"/>
    <p:sldId id="323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3C30-8905-028E-AD00-8E7E55E9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C0A21-4E25-F843-F3BA-F05AEB49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57871-0D6B-E3E0-AE38-BD8CF8F28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45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Types of t-test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T-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One sample t-test</a:t>
            </a:r>
          </a:p>
          <a:p>
            <a:r>
              <a:rPr lang="en-US" dirty="0"/>
              <a:t>Paired-sample t-test </a:t>
            </a:r>
          </a:p>
          <a:p>
            <a:r>
              <a:rPr lang="en-US" dirty="0"/>
              <a:t>Two-sample t-test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282804"/>
            <a:ext cx="7965461" cy="1768634"/>
          </a:xfrm>
        </p:spPr>
        <p:txBody>
          <a:bodyPr/>
          <a:lstStyle/>
          <a:p>
            <a:r>
              <a:rPr lang="en-US" b="0" dirty="0"/>
              <a:t>One-sample t-test (compare a sample mean to a known value μ₀)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i="1" dirty="0"/>
              <a:t>% Data</a:t>
            </a:r>
            <a:br>
              <a:rPr lang="en-US" dirty="0"/>
            </a:br>
            <a:r>
              <a:rPr lang="en-US" dirty="0"/>
              <a:t>x   = [/* your vector */];</a:t>
            </a:r>
            <a:br>
              <a:rPr lang="en-US" dirty="0"/>
            </a:br>
            <a:r>
              <a:rPr lang="en-US" dirty="0"/>
              <a:t>mu0 = 0;                 </a:t>
            </a:r>
            <a:r>
              <a:rPr lang="en-US" i="1" dirty="0"/>
              <a:t>% hypothesized mean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% Two-sided test at alpha=0.05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h,p,ci,stats</a:t>
            </a:r>
            <a:r>
              <a:rPr lang="en-US" dirty="0"/>
              <a:t>] = </a:t>
            </a:r>
            <a:r>
              <a:rPr lang="en-US" dirty="0" err="1"/>
              <a:t>ttest</a:t>
            </a:r>
            <a:r>
              <a:rPr lang="en-US" dirty="0"/>
              <a:t>(x, mu0, 'Alpha',0.05, '</a:t>
            </a:r>
            <a:r>
              <a:rPr lang="en-US" dirty="0" err="1"/>
              <a:t>Tail','both</a:t>
            </a:r>
            <a:r>
              <a:rPr lang="en-US" dirty="0"/>
              <a:t>');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fprintf</a:t>
            </a:r>
            <a:r>
              <a:rPr lang="en-US" dirty="0"/>
              <a:t>('One-sample t-test: h=%d, p=%.4g, t=%.3f, </a:t>
            </a:r>
            <a:r>
              <a:rPr lang="en-US" dirty="0" err="1"/>
              <a:t>df</a:t>
            </a:r>
            <a:r>
              <a:rPr lang="en-US" dirty="0"/>
              <a:t>=%d\n', ...</a:t>
            </a:r>
            <a:br>
              <a:rPr lang="en-US" dirty="0"/>
            </a:br>
            <a:r>
              <a:rPr lang="en-US" dirty="0"/>
              <a:t>        h, p, </a:t>
            </a:r>
            <a:r>
              <a:rPr lang="en-US" dirty="0" err="1"/>
              <a:t>stats.tstat</a:t>
            </a:r>
            <a:r>
              <a:rPr lang="en-US" dirty="0"/>
              <a:t>, </a:t>
            </a:r>
            <a:r>
              <a:rPr lang="en-US" dirty="0" err="1"/>
              <a:t>stats.df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 err="1"/>
              <a:t>disp</a:t>
            </a:r>
            <a:r>
              <a:rPr lang="en-US" dirty="0"/>
              <a:t>('95% CI for mean - mu0:'); </a:t>
            </a:r>
            <a:r>
              <a:rPr lang="en-US" dirty="0" err="1"/>
              <a:t>disp</a:t>
            </a:r>
            <a:r>
              <a:rPr lang="en-US" dirty="0"/>
              <a:t>(ci);</a:t>
            </a:r>
            <a:br>
              <a:rPr lang="en-US" dirty="0"/>
            </a:b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b="0" dirty="0"/>
              <a:t>Paired-sample t-test (same subjects “before vs after”)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152710" cy="3720337"/>
          </a:xfrm>
        </p:spPr>
        <p:txBody>
          <a:bodyPr>
            <a:normAutofit/>
          </a:bodyPr>
          <a:lstStyle/>
          <a:p>
            <a:r>
              <a:rPr lang="en-US" dirty="0"/>
              <a:t>before = [/* vector */];</a:t>
            </a:r>
            <a:br>
              <a:rPr lang="en-US" dirty="0"/>
            </a:br>
            <a:r>
              <a:rPr lang="en-US" dirty="0"/>
              <a:t>after  = [/* vector */];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h,p,ci,stats</a:t>
            </a:r>
            <a:r>
              <a:rPr lang="en-US" dirty="0"/>
              <a:t>] = </a:t>
            </a:r>
            <a:r>
              <a:rPr lang="en-US" dirty="0" err="1"/>
              <a:t>ttest</a:t>
            </a:r>
            <a:r>
              <a:rPr lang="en-US" dirty="0"/>
              <a:t>(before, after, 'Alpha',0.05, '</a:t>
            </a:r>
            <a:r>
              <a:rPr lang="en-US" dirty="0" err="1"/>
              <a:t>Tail','both</a:t>
            </a:r>
            <a:r>
              <a:rPr lang="en-US" dirty="0"/>
              <a:t>');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fprintf</a:t>
            </a:r>
            <a:r>
              <a:rPr lang="en-US" dirty="0"/>
              <a:t>('Paired t-test: h=%d, p=%.4g, t=%.3f, </a:t>
            </a:r>
            <a:r>
              <a:rPr lang="en-US" dirty="0" err="1"/>
              <a:t>df</a:t>
            </a:r>
            <a:r>
              <a:rPr lang="en-US" dirty="0"/>
              <a:t>=%d\n', ...</a:t>
            </a:r>
            <a:br>
              <a:rPr lang="en-US" dirty="0"/>
            </a:br>
            <a:r>
              <a:rPr lang="en-US" dirty="0"/>
              <a:t>        h, p, </a:t>
            </a:r>
            <a:r>
              <a:rPr lang="en-US" dirty="0" err="1"/>
              <a:t>stats.tstat</a:t>
            </a:r>
            <a:r>
              <a:rPr lang="en-US" dirty="0"/>
              <a:t>, </a:t>
            </a:r>
            <a:r>
              <a:rPr lang="en-US" dirty="0" err="1"/>
              <a:t>stats.df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 err="1"/>
              <a:t>disp</a:t>
            </a:r>
            <a:r>
              <a:rPr lang="en-US" dirty="0"/>
              <a:t>('95% CI of mean(before-after):'); </a:t>
            </a:r>
            <a:r>
              <a:rPr lang="en-US" dirty="0" err="1"/>
              <a:t>disp</a:t>
            </a:r>
            <a:r>
              <a:rPr lang="en-US" dirty="0"/>
              <a:t>(ci);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5948313"/>
            <a:ext cx="3284951" cy="75052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b="0" dirty="0"/>
              <a:t>Two-sample t-test (independent groups)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7475456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x = [/* group A */];</a:t>
            </a:r>
            <a:br>
              <a:rPr lang="en-US" dirty="0"/>
            </a:br>
            <a:r>
              <a:rPr lang="en-US" dirty="0"/>
              <a:t>y = [/* group B */];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% If you assume equal variances: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h_eq,p_eq,ci_eq,stats_eq</a:t>
            </a:r>
            <a:r>
              <a:rPr lang="en-US" dirty="0"/>
              <a:t>] = ttest2(x, y, '</a:t>
            </a:r>
            <a:r>
              <a:rPr lang="en-US" dirty="0" err="1"/>
              <a:t>Vartype</a:t>
            </a:r>
            <a:r>
              <a:rPr lang="en-US" dirty="0"/>
              <a:t>','equal', 'Alpha',0.05);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% If you do NOT assume equal variances (Welch’s test; safest default):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h_uneq,p_uneq,ci_uneq,stats_uneq</a:t>
            </a:r>
            <a:r>
              <a:rPr lang="en-US" dirty="0"/>
              <a:t>] = ttest2(x, y, '</a:t>
            </a:r>
            <a:r>
              <a:rPr lang="en-US" dirty="0" err="1"/>
              <a:t>Vartype</a:t>
            </a:r>
            <a:r>
              <a:rPr lang="en-US" dirty="0"/>
              <a:t>','unequal', 'Alpha',0.05);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fprintf</a:t>
            </a:r>
            <a:r>
              <a:rPr lang="en-US" dirty="0"/>
              <a:t>('Two-sample t-test (Welch): h=%d, p=%.4g, t=%.3f, </a:t>
            </a:r>
            <a:r>
              <a:rPr lang="en-US" dirty="0" err="1"/>
              <a:t>df</a:t>
            </a:r>
            <a:r>
              <a:rPr lang="en-US" dirty="0"/>
              <a:t>=%.1f\n', ...</a:t>
            </a:r>
            <a:br>
              <a:rPr lang="en-US" dirty="0"/>
            </a:br>
            <a:r>
              <a:rPr lang="en-US" dirty="0"/>
              <a:t>        </a:t>
            </a:r>
            <a:r>
              <a:rPr lang="en-US" dirty="0" err="1"/>
              <a:t>h_uneq</a:t>
            </a:r>
            <a:r>
              <a:rPr lang="en-US" dirty="0"/>
              <a:t>, </a:t>
            </a:r>
            <a:r>
              <a:rPr lang="en-US" dirty="0" err="1"/>
              <a:t>p_uneq</a:t>
            </a:r>
            <a:r>
              <a:rPr lang="en-US" dirty="0"/>
              <a:t>, </a:t>
            </a:r>
            <a:r>
              <a:rPr lang="en-US" dirty="0" err="1"/>
              <a:t>stats_uneq.tstat</a:t>
            </a:r>
            <a:r>
              <a:rPr lang="en-US" dirty="0"/>
              <a:t>, </a:t>
            </a:r>
            <a:r>
              <a:rPr lang="en-US" dirty="0" err="1"/>
              <a:t>stats_uneq.df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 err="1"/>
              <a:t>disp</a:t>
            </a:r>
            <a:r>
              <a:rPr lang="en-US" dirty="0"/>
              <a:t>('95% CI of mean(x)-mean(y):'); </a:t>
            </a:r>
            <a:r>
              <a:rPr lang="en-US" dirty="0" err="1"/>
              <a:t>disp</a:t>
            </a:r>
            <a:r>
              <a:rPr lang="en-US" dirty="0"/>
              <a:t>(</a:t>
            </a:r>
            <a:r>
              <a:rPr lang="en-US" dirty="0" err="1"/>
              <a:t>ci_uneq</a:t>
            </a:r>
            <a:r>
              <a:rPr lang="en-US" dirty="0"/>
              <a:t>);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V="1">
            <a:off x="4781550" y="6446838"/>
            <a:ext cx="3763963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b="0" dirty="0"/>
              <a:t>Nonparametric alternative for two independent samples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b="1" dirty="0"/>
              <a:t>(Mann–Whitney U / Wilcoxon rank-sum)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x = [/* group A */];</a:t>
            </a:r>
            <a:br>
              <a:rPr lang="en-US" dirty="0"/>
            </a:br>
            <a:r>
              <a:rPr lang="en-US" dirty="0"/>
              <a:t>y = [/* group B */];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p,h,stats</a:t>
            </a:r>
            <a:r>
              <a:rPr lang="en-US" dirty="0"/>
              <a:t>] = </a:t>
            </a:r>
            <a:r>
              <a:rPr lang="en-US" dirty="0" err="1"/>
              <a:t>ranksum</a:t>
            </a:r>
            <a:r>
              <a:rPr lang="en-US" dirty="0"/>
              <a:t>(x, y, 'alpha',0.05);  </a:t>
            </a:r>
            <a:r>
              <a:rPr lang="en-US" i="1" dirty="0"/>
              <a:t>% h=1 =&gt; reject equal medians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fprintf</a:t>
            </a:r>
            <a:r>
              <a:rPr lang="en-US" dirty="0"/>
              <a:t>('Rank-sum test: h=%d, p=%.4g, </a:t>
            </a:r>
            <a:r>
              <a:rPr lang="en-US" dirty="0" err="1"/>
              <a:t>zval</a:t>
            </a:r>
            <a:r>
              <a:rPr lang="en-US" dirty="0"/>
              <a:t>=%.3f\n', h, p, </a:t>
            </a:r>
            <a:r>
              <a:rPr lang="en-US" dirty="0" err="1"/>
              <a:t>stats.zval</a:t>
            </a:r>
            <a:r>
              <a:rPr lang="en-US" dirty="0"/>
              <a:t>);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b="0" dirty="0"/>
              <a:t>Handy add-ons (optional)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478797" cy="3704266"/>
          </a:xfrm>
        </p:spPr>
        <p:txBody>
          <a:bodyPr/>
          <a:lstStyle/>
          <a:p>
            <a:r>
              <a:rPr lang="en-US" sz="1400" b="1" dirty="0"/>
              <a:t>Check normality (to justify a t-test):</a:t>
            </a:r>
            <a:br>
              <a:rPr lang="en-US" sz="1200" dirty="0"/>
            </a:br>
            <a:br>
              <a:rPr lang="en-US" sz="1200" dirty="0"/>
            </a:br>
            <a:r>
              <a:rPr lang="en-US" sz="1200" i="1" dirty="0"/>
              <a:t>% Lilliefors test (Kolmogorov–Smirnov variant)</a:t>
            </a:r>
            <a:br>
              <a:rPr lang="en-US" sz="1200" dirty="0"/>
            </a:br>
            <a:r>
              <a:rPr lang="en-US" sz="1200" dirty="0"/>
              <a:t>[</a:t>
            </a:r>
            <a:r>
              <a:rPr lang="en-US" sz="1200" dirty="0" err="1"/>
              <a:t>h_norm_x,p_x</a:t>
            </a:r>
            <a:r>
              <a:rPr lang="en-US" sz="1200" dirty="0"/>
              <a:t>] = </a:t>
            </a:r>
            <a:r>
              <a:rPr lang="en-US" sz="1200" dirty="0" err="1"/>
              <a:t>lillietest</a:t>
            </a:r>
            <a:r>
              <a:rPr lang="en-US" sz="1200" dirty="0"/>
              <a:t>(x);</a:t>
            </a:r>
            <a:br>
              <a:rPr lang="en-US" sz="1200" dirty="0"/>
            </a:br>
            <a:r>
              <a:rPr lang="en-US" sz="1200" dirty="0"/>
              <a:t>[</a:t>
            </a:r>
            <a:r>
              <a:rPr lang="en-US" sz="1200" dirty="0" err="1"/>
              <a:t>h_norm_y,p_y</a:t>
            </a:r>
            <a:r>
              <a:rPr lang="en-US" sz="1200" dirty="0"/>
              <a:t>] = </a:t>
            </a:r>
            <a:r>
              <a:rPr lang="en-US" sz="1200" dirty="0" err="1"/>
              <a:t>lillietest</a:t>
            </a:r>
            <a:r>
              <a:rPr lang="en-US" sz="1200" dirty="0"/>
              <a:t>(y);</a:t>
            </a:r>
            <a:br>
              <a:rPr lang="en-US" sz="1200" dirty="0"/>
            </a:br>
            <a:br>
              <a:rPr lang="en-US" sz="1200" dirty="0"/>
            </a:br>
            <a:r>
              <a:rPr lang="en-US" sz="1400" b="1" dirty="0"/>
              <a:t>Effect sizes:</a:t>
            </a:r>
            <a:br>
              <a:rPr lang="en-US" sz="1200" dirty="0"/>
            </a:br>
            <a:br>
              <a:rPr lang="en-US" sz="1200" dirty="0"/>
            </a:br>
            <a:r>
              <a:rPr lang="en-US" sz="1200" i="1" dirty="0"/>
              <a:t>% Cohen's d for two independent samples (Welch pooled SD)</a:t>
            </a:r>
            <a:br>
              <a:rPr lang="en-US" sz="1200" dirty="0"/>
            </a:br>
            <a:r>
              <a:rPr lang="en-US" sz="1200" dirty="0" err="1"/>
              <a:t>sx</a:t>
            </a:r>
            <a:r>
              <a:rPr lang="en-US" sz="1200" dirty="0"/>
              <a:t> = std(x,1); </a:t>
            </a:r>
            <a:r>
              <a:rPr lang="en-US" sz="1200" dirty="0" err="1"/>
              <a:t>sy</a:t>
            </a:r>
            <a:r>
              <a:rPr lang="en-US" sz="1200" dirty="0"/>
              <a:t> = std(y,1);</a:t>
            </a:r>
            <a:br>
              <a:rPr lang="en-US" sz="1200" dirty="0"/>
            </a:br>
            <a:r>
              <a:rPr lang="en-US" sz="1200" dirty="0"/>
              <a:t>d  = (mean(x)-mean(y)) / sqrt(((sx^2)+(sy^2))/2);</a:t>
            </a:r>
            <a:br>
              <a:rPr lang="en-US" sz="1200" dirty="0"/>
            </a:br>
            <a:br>
              <a:rPr lang="en-US" sz="1200" dirty="0"/>
            </a:br>
            <a:r>
              <a:rPr lang="en-US" sz="1200" i="1" dirty="0"/>
              <a:t>% Cohen's </a:t>
            </a:r>
            <a:r>
              <a:rPr lang="en-US" sz="1200" i="1" dirty="0" err="1"/>
              <a:t>dz</a:t>
            </a:r>
            <a:r>
              <a:rPr lang="en-US" sz="1200" i="1" dirty="0"/>
              <a:t> for paired (uses SD of differences)</a:t>
            </a:r>
            <a:br>
              <a:rPr lang="en-US" sz="1200" dirty="0"/>
            </a:br>
            <a:r>
              <a:rPr lang="en-US" sz="1200" dirty="0" err="1"/>
              <a:t>d_diff</a:t>
            </a:r>
            <a:r>
              <a:rPr lang="en-US" sz="1200" dirty="0"/>
              <a:t> = (mean(before-after)) / std(before-after,1);</a:t>
            </a:r>
            <a:br>
              <a:rPr lang="en-US" sz="1200" dirty="0"/>
            </a:br>
            <a:br>
              <a:rPr lang="en-US" sz="1200" dirty="0"/>
            </a:br>
            <a:r>
              <a:rPr lang="en-US" sz="1400" b="1" dirty="0"/>
              <a:t>Nonparametric paired alternative (if paired data aren’t normal):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</a:t>
            </a:r>
            <a:r>
              <a:rPr lang="en-US" sz="1200" dirty="0" err="1"/>
              <a:t>p,h,stats</a:t>
            </a:r>
            <a:r>
              <a:rPr lang="en-US" sz="1200" dirty="0"/>
              <a:t>] = </a:t>
            </a:r>
            <a:r>
              <a:rPr lang="en-US" sz="1200" dirty="0" err="1"/>
              <a:t>signrank</a:t>
            </a:r>
            <a:r>
              <a:rPr lang="en-US" sz="1200" dirty="0"/>
              <a:t>(before, after, 'alpha',0.05);  </a:t>
            </a:r>
            <a:r>
              <a:rPr lang="en-US" sz="1200" i="1" dirty="0"/>
              <a:t>% Wilcoxon signed-rank</a:t>
            </a:r>
            <a:endParaRPr lang="en-US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9158285" cy="396159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    •    Use </a:t>
            </a:r>
            <a:r>
              <a:rPr lang="en-US" dirty="0" err="1"/>
              <a:t>ttest</a:t>
            </a:r>
            <a:r>
              <a:rPr lang="en-US" dirty="0"/>
              <a:t> for one-sample or paired; ttest2 for independent groups.</a:t>
            </a:r>
            <a:br>
              <a:rPr lang="en-US" dirty="0"/>
            </a:br>
            <a:r>
              <a:rPr lang="en-US" dirty="0"/>
              <a:t>    •    Prefer ttest2(...,'</a:t>
            </a:r>
            <a:r>
              <a:rPr lang="en-US" dirty="0" err="1"/>
              <a:t>Vartype</a:t>
            </a:r>
            <a:r>
              <a:rPr lang="en-US" dirty="0"/>
              <a:t>','unequal') unless you’re confident variances are equal.</a:t>
            </a:r>
            <a:br>
              <a:rPr lang="en-US" dirty="0"/>
            </a:br>
            <a:r>
              <a:rPr lang="en-US" dirty="0"/>
              <a:t>    •    If normality is doubtful or you have strong outliers/small n, switch to </a:t>
            </a:r>
            <a:r>
              <a:rPr lang="en-US" dirty="0" err="1"/>
              <a:t>ranksum</a:t>
            </a:r>
            <a:r>
              <a:rPr lang="en-US" dirty="0"/>
              <a:t> (independent) or </a:t>
            </a:r>
            <a:r>
              <a:rPr lang="en-US" dirty="0" err="1"/>
              <a:t>signrank</a:t>
            </a:r>
            <a:r>
              <a:rPr lang="en-US" dirty="0"/>
              <a:t> (paired).</a:t>
            </a:r>
            <a:br>
              <a:rPr lang="en-US" dirty="0"/>
            </a:br>
            <a:r>
              <a:rPr lang="en-US" dirty="0"/>
              <a:t>    •    h=1 means “reject the null” at your chosen Alpha.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1EAA9-E019-5777-6BF7-0C91D5B763E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% Depression scores</a:t>
            </a:r>
          </a:p>
          <a:p>
            <a:r>
              <a:rPr lang="en-US" dirty="0" err="1"/>
              <a:t>groupA</a:t>
            </a:r>
            <a:r>
              <a:rPr lang="en-US" dirty="0"/>
              <a:t> = [22, 24, 23, 25, 26];  % Sedentary individuals</a:t>
            </a:r>
          </a:p>
          <a:p>
            <a:r>
              <a:rPr lang="en-US" dirty="0" err="1"/>
              <a:t>groupB</a:t>
            </a:r>
            <a:r>
              <a:rPr lang="en-US" dirty="0"/>
              <a:t> = [15, 16, 14, 17, 15];  % Physically active individuals</a:t>
            </a:r>
          </a:p>
          <a:p>
            <a:endParaRPr lang="en-US" dirty="0"/>
          </a:p>
          <a:p>
            <a:r>
              <a:rPr lang="en-US" dirty="0"/>
              <a:t>% Nonparametric test</a:t>
            </a:r>
          </a:p>
          <a:p>
            <a:r>
              <a:rPr lang="en-US" dirty="0"/>
              <a:t>[</a:t>
            </a:r>
            <a:r>
              <a:rPr lang="en-US" dirty="0" err="1"/>
              <a:t>p,h,stats</a:t>
            </a:r>
            <a:r>
              <a:rPr lang="en-US" dirty="0"/>
              <a:t>] = </a:t>
            </a:r>
            <a:r>
              <a:rPr lang="en-US" dirty="0" err="1"/>
              <a:t>ranksum</a:t>
            </a:r>
            <a:r>
              <a:rPr lang="en-US" dirty="0"/>
              <a:t>(</a:t>
            </a:r>
            <a:r>
              <a:rPr lang="en-US" dirty="0" err="1"/>
              <a:t>groupA</a:t>
            </a:r>
            <a:r>
              <a:rPr lang="en-US" dirty="0"/>
              <a:t>, </a:t>
            </a:r>
            <a:r>
              <a:rPr lang="en-US" dirty="0" err="1"/>
              <a:t>groupB</a:t>
            </a:r>
            <a:r>
              <a:rPr lang="en-US" dirty="0"/>
              <a:t>, 'alpha',0.05);</a:t>
            </a:r>
          </a:p>
          <a:p>
            <a:endParaRPr lang="en-US" dirty="0"/>
          </a:p>
          <a:p>
            <a:r>
              <a:rPr lang="en-US" dirty="0" err="1"/>
              <a:t>fprintf</a:t>
            </a:r>
            <a:r>
              <a:rPr lang="en-US" dirty="0"/>
              <a:t>('Rank-sum test: h=%d, p=%.4g, </a:t>
            </a:r>
            <a:r>
              <a:rPr lang="en-US" dirty="0" err="1"/>
              <a:t>zval</a:t>
            </a:r>
            <a:r>
              <a:rPr lang="en-US" dirty="0"/>
              <a:t>=%.3f\n', h, p, </a:t>
            </a:r>
            <a:r>
              <a:rPr lang="en-US" dirty="0" err="1"/>
              <a:t>stats.zval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5C0C4-2F1F-5554-DAB8-E559D0E8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4965-2263-FA66-7C4D-89BF069A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7FE0AF-B681-4A1D-52E1-91E4ED72C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B6C0D-1A70-E58D-39F0-5A82A00C75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 Mann–Whitney U test was conducted to compare depression scores between sedentary and physically active individuals. The results indicated a statistically significant difference (z = 2.31, p = 0.021), with sedentary participants showing higher scores. This suggests that physical inactivity may be associated with elevated depressive symptoms.</a:t>
            </a:r>
          </a:p>
        </p:txBody>
      </p:sp>
    </p:spTree>
    <p:extLst>
      <p:ext uri="{BB962C8B-B14F-4D97-AF65-F5344CB8AC3E}">
        <p14:creationId xmlns:p14="http://schemas.microsoft.com/office/powerpoint/2010/main" val="210436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{3EF880C8-A6B4-4A74-B96A-32CA24E9F5BF}TF8a9b5915-b8c7-461e-8cdd-693d48b5e32371f7b7e2_win32-4bf0b9a2ea37</Template>
  <TotalTime>21</TotalTime>
  <Words>919</Words>
  <Application>Microsoft Office PowerPoint</Application>
  <PresentationFormat>Widescreen</PresentationFormat>
  <Paragraphs>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Types of t-test</vt:lpstr>
      <vt:lpstr>T- tests</vt:lpstr>
      <vt:lpstr>One-sample t-test (compare a sample mean to a known value μ₀)</vt:lpstr>
      <vt:lpstr>Paired-sample t-test (same subjects “before vs after”)</vt:lpstr>
      <vt:lpstr>Two-sample t-test (independent groups)</vt:lpstr>
      <vt:lpstr>Nonparametric alternative for two independent samples</vt:lpstr>
      <vt:lpstr>Handy add-ons (optional)</vt:lpstr>
      <vt:lpstr>Final tips</vt:lpstr>
      <vt:lpstr>example</vt:lpstr>
      <vt:lpstr>example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Bahareh Filom</dc:creator>
  <cp:lastModifiedBy>Bahareh Filom</cp:lastModifiedBy>
  <cp:revision>2</cp:revision>
  <dcterms:created xsi:type="dcterms:W3CDTF">2025-09-26T13:32:40Z</dcterms:created>
  <dcterms:modified xsi:type="dcterms:W3CDTF">2025-09-26T13:56:20Z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